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7" r:id="rId3"/>
    <p:sldId id="258" r:id="rId4"/>
    <p:sldId id="259" r:id="rId5"/>
    <p:sldId id="260" r:id="rId6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84" y="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F0358-AD4D-49FC-A7FF-3B225B9BACD2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D98B5-EB80-439D-85E4-22F8E1F2F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21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Raw Time-Series:</a:t>
            </a:r>
            <a:r>
              <a:rPr lang="en-US" dirty="0"/>
              <a:t> A 10-second plot of the raw EEG channels. It will look incredibly messy. </a:t>
            </a:r>
            <a:r>
              <a:rPr lang="en-US" i="1" dirty="0"/>
              <a:t>This shows the raw stochastic drift.</a:t>
            </a:r>
            <a:endParaRPr lang="en-US" dirty="0"/>
          </a:p>
          <a:p>
            <a:r>
              <a:rPr lang="en-US" b="1" dirty="0"/>
              <a:t>Power Spectral Density (PSD) Plot:</a:t>
            </a:r>
            <a:r>
              <a:rPr lang="en-US" dirty="0"/>
              <a:t> This shows the energy of the signal across different frequencies. The underlying frequency bands (Alpha, Beta, Theta) of the brainwaves.</a:t>
            </a:r>
          </a:p>
          <a:p>
            <a:r>
              <a:rPr lang="en-US" b="1" dirty="0"/>
              <a:t>State Comparison:</a:t>
            </a:r>
            <a:r>
              <a:rPr lang="en-US" dirty="0"/>
              <a:t> The calm </a:t>
            </a:r>
            <a:r>
              <a:rPr lang="en-US" i="1" dirty="0"/>
              <a:t>interictal</a:t>
            </a:r>
            <a:r>
              <a:rPr lang="en-US" dirty="0"/>
              <a:t> state side-by-side with a chaotic </a:t>
            </a:r>
            <a:r>
              <a:rPr lang="en-US" i="1" dirty="0"/>
              <a:t>ictal</a:t>
            </a:r>
            <a:r>
              <a:rPr lang="en-US" dirty="0"/>
              <a:t> state. This visually demonstrates the structural break the models will be trying to detect.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D98B5-EB80-439D-85E4-22F8E1F2F7A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038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am now ready to move into WP2 and begin building the ARIMA baseline models on this cleaned data.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D98B5-EB80-439D-85E4-22F8E1F2F7A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81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181B-8AD5-4509-0E52-1E321FF20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5C41-652F-56EC-688C-554808BB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3"/>
            <a:ext cx="7972425" cy="773112"/>
          </a:xfrm>
        </p:spPr>
        <p:txBody>
          <a:bodyPr>
            <a:normAutofit/>
          </a:bodyPr>
          <a:lstStyle/>
          <a:p>
            <a:r>
              <a:rPr sz="3600" dirty="0"/>
              <a:t>Dataset Eligibility (ds003029)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6D2C6-D8A1-9731-1420-97D49A9F5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723900"/>
            <a:ext cx="8229600" cy="5886450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b="1" dirty="0"/>
              <a:t>Research paper Summary on “Neural Fragility as an EEG Marker of the Seizure Onset”</a:t>
            </a:r>
          </a:p>
          <a:p>
            <a:pPr marL="0" indent="0">
              <a:buNone/>
            </a:pPr>
            <a:endParaRPr lang="en-US" sz="3500" b="1" dirty="0"/>
          </a:p>
          <a:p>
            <a:pPr marL="0" indent="0">
              <a:buNone/>
            </a:pPr>
            <a:r>
              <a:rPr lang="en-US" sz="3500" b="1" dirty="0"/>
              <a:t>1. Summary of the Paper</a:t>
            </a:r>
          </a:p>
          <a:p>
            <a:r>
              <a:rPr lang="en-US" sz="2800" dirty="0"/>
              <a:t>The study introduces and validates a novel intracranial EEG (</a:t>
            </a:r>
            <a:r>
              <a:rPr lang="en-US" sz="2800" dirty="0" err="1"/>
              <a:t>iEEG</a:t>
            </a:r>
            <a:r>
              <a:rPr lang="en-US" sz="2800" dirty="0"/>
              <a:t>) biomarker called "neural fragility". </a:t>
            </a:r>
          </a:p>
          <a:p>
            <a:r>
              <a:rPr lang="en-US" sz="2800" dirty="0"/>
              <a:t>It is designed to accurately locate the Seizure Onset Zone (SOZ) in patients suffering from drug-resistant epilepsy. </a:t>
            </a:r>
          </a:p>
          <a:p>
            <a:r>
              <a:rPr lang="en-US" sz="2800" dirty="0"/>
              <a:t>Instead of looking at isolated brainwaves, the researchers modeled the brain as a dynamic network, identifying specific "fragile" nodes that cause the entire network to become unstable and trigger a seizure</a:t>
            </a:r>
            <a:r>
              <a:rPr lang="en-US" sz="2500" dirty="0"/>
              <a:t>.</a:t>
            </a:r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b="1" dirty="0"/>
              <a:t>2. Why it Was Conducted (The Problem)</a:t>
            </a:r>
          </a:p>
          <a:p>
            <a:r>
              <a:rPr lang="en-US" sz="2800" dirty="0"/>
              <a:t>Over 15 million epilepsy patients worldwide do not respond to anti-epileptic drugs. </a:t>
            </a:r>
          </a:p>
          <a:p>
            <a:r>
              <a:rPr lang="en-US" sz="2800" dirty="0"/>
              <a:t>For these patients, surgical removal of the SOZ is required, but surgical success rates vary wildly between 30% and 70%. </a:t>
            </a:r>
          </a:p>
          <a:p>
            <a:r>
              <a:rPr lang="en-US" sz="2800" dirty="0"/>
              <a:t>This low success rate exists because there is no clinically validated, objective biomarker to pinpoint the exact origin of the seizure. </a:t>
            </a:r>
          </a:p>
          <a:p>
            <a:r>
              <a:rPr lang="en-US" sz="2800" dirty="0"/>
              <a:t>Current localization methods rely heavily on visual inspection by clinicians or single-channel linear analytics (like high-frequency oscillations), which fail to capture the internal network properties that cause seizures in the first place.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3500" b="1" dirty="0"/>
              <a:t>3. What Type of Dataset is Used</a:t>
            </a:r>
          </a:p>
          <a:p>
            <a:r>
              <a:rPr lang="en-US" sz="2800" dirty="0"/>
              <a:t>The researchers utilized a retrospective dataset of intracranial EEG (</a:t>
            </a:r>
            <a:r>
              <a:rPr lang="en-US" sz="2800" dirty="0" err="1"/>
              <a:t>iEEG</a:t>
            </a:r>
            <a:r>
              <a:rPr lang="en-US" sz="2800" dirty="0"/>
              <a:t>) recordings, comprising both electrocorticography (</a:t>
            </a:r>
            <a:r>
              <a:rPr lang="en-US" sz="2800" dirty="0" err="1"/>
              <a:t>ECoG</a:t>
            </a:r>
            <a:r>
              <a:rPr lang="en-US" sz="2800" dirty="0"/>
              <a:t>) and stereo-EEG (SEEG). </a:t>
            </a:r>
          </a:p>
          <a:p>
            <a:r>
              <a:rPr lang="en-US" sz="2800" dirty="0"/>
              <a:t>The data includes 91 patients compiled from five major clinical centers, covering 462 total seizures. </a:t>
            </a:r>
          </a:p>
          <a:p>
            <a:r>
              <a:rPr lang="en-US" sz="2800" dirty="0"/>
              <a:t>The dataset is fully clinically annotated with timestamps for interictal (resting) and ictal (seizure) states, and it was structured into the BIDS-</a:t>
            </a:r>
            <a:r>
              <a:rPr lang="en-US" sz="2800" dirty="0" err="1"/>
              <a:t>iEEG</a:t>
            </a:r>
            <a:r>
              <a:rPr lang="en-US" sz="2800" dirty="0"/>
              <a:t> format and published directly to the </a:t>
            </a:r>
            <a:r>
              <a:rPr lang="en-US" sz="2800" dirty="0" err="1"/>
              <a:t>OpenNeuro</a:t>
            </a:r>
            <a:r>
              <a:rPr lang="en-US" sz="2800" dirty="0"/>
              <a:t> repository as dataset ds003029.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3500" b="1" dirty="0"/>
              <a:t>4. How it Was Measured (The Methodology)</a:t>
            </a:r>
          </a:p>
          <a:p>
            <a:r>
              <a:rPr lang="en-US" sz="2800" dirty="0"/>
              <a:t>The researchers constructed a time-varying linear dynamical model (taking the mathematical form of x(t+1)=Ax(t)) for sequential 250-millisecond windows of the continuous </a:t>
            </a:r>
            <a:r>
              <a:rPr lang="en-US" sz="2800" dirty="0" err="1"/>
              <a:t>iEEG</a:t>
            </a:r>
            <a:r>
              <a:rPr lang="en-US" sz="2800" dirty="0"/>
              <a:t> data. </a:t>
            </a:r>
          </a:p>
          <a:p>
            <a:r>
              <a:rPr lang="en-US" sz="2800" dirty="0"/>
              <a:t>Neural fragility was mathematically quantified by calculating the minimum perturbation (change) required at a specific electrode's connections to make the entire network model unstable. </a:t>
            </a:r>
          </a:p>
          <a:p>
            <a:r>
              <a:rPr lang="en-US" sz="2800" dirty="0"/>
              <a:t>They tested this neural fragility metric against 20 other standard linear and graphical EEG features by training a Random Forest machine learning classifier to predict surgical outcomes. </a:t>
            </a:r>
          </a:p>
          <a:p>
            <a:r>
              <a:rPr lang="en-US" sz="2800" dirty="0"/>
              <a:t>Neural fragility proved superior, predicting successful surgical outcomes with 76% accuracy and heavily outperforming traditional univariate frequency-band power metrics. 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54831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7387"/>
          </a:xfrm>
        </p:spPr>
        <p:txBody>
          <a:bodyPr>
            <a:normAutofit/>
          </a:bodyPr>
          <a:lstStyle/>
          <a:p>
            <a:r>
              <a:rPr sz="3600" dirty="0"/>
              <a:t>Dataset Eligibility (ds003029)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7388"/>
            <a:ext cx="8229600" cy="507682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Clinical Ground Truth</a:t>
            </a:r>
            <a:r>
              <a:rPr lang="en-US" dirty="0"/>
              <a:t> — It contains expert neurologist annotations marking the exact sample of seizure onset (</a:t>
            </a:r>
            <a:r>
              <a:rPr lang="en-US" dirty="0" err="1"/>
              <a:t>sz</a:t>
            </a:r>
            <a:r>
              <a:rPr lang="en-US" dirty="0"/>
              <a:t> onset) and offset, giving us verified labels to benchmark against.</a:t>
            </a:r>
          </a:p>
          <a:p>
            <a:r>
              <a:rPr lang="en-US" b="1" dirty="0"/>
              <a:t>Reproducibility</a:t>
            </a:r>
            <a:r>
              <a:rPr lang="en-US" dirty="0"/>
              <a:t> — It's open-access, so my results can be independently verified by anyone, which directly addresses the literature gap I identified in my proposal about proprietary datasets limiting academic reproducibility.</a:t>
            </a:r>
          </a:p>
          <a:p>
            <a:r>
              <a:rPr lang="en-US" b="1" dirty="0"/>
              <a:t>High Fidelity</a:t>
            </a:r>
            <a:r>
              <a:rPr lang="en-US" dirty="0"/>
              <a:t> — These are intracranial (</a:t>
            </a:r>
            <a:r>
              <a:rPr lang="en-US" dirty="0" err="1"/>
              <a:t>iEEG</a:t>
            </a:r>
            <a:r>
              <a:rPr lang="en-US" dirty="0"/>
              <a:t>) recordings, not scalp EEG. The electrodes sit directly on/inside the brain, giving us extremely clean signals with minimal skull interference.</a:t>
            </a:r>
          </a:p>
          <a:p>
            <a:r>
              <a:rPr lang="en-US" b="1" dirty="0"/>
              <a:t>Multicenter</a:t>
            </a:r>
            <a:r>
              <a:rPr lang="en-US" dirty="0"/>
              <a:t> — Data was collected across multiple hospitals (Johns Hopkins, UMMC, UMF), which strengthens the </a:t>
            </a:r>
            <a:r>
              <a:rPr lang="en-US" dirty="0" err="1"/>
              <a:t>generalisability</a:t>
            </a:r>
            <a:r>
              <a:rPr lang="en-US" dirty="0"/>
              <a:t> of any findings.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Exploratory Data Analysis (EDA) &amp; Visualisations</a:t>
            </a:r>
          </a:p>
        </p:txBody>
      </p:sp>
      <p:pic>
        <p:nvPicPr>
          <p:cNvPr id="3" name="Picture 2" descr="raw_time_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114800" cy="1645920"/>
          </a:xfrm>
          <a:prstGeom prst="rect">
            <a:avLst/>
          </a:prstGeom>
        </p:spPr>
      </p:pic>
      <p:pic>
        <p:nvPicPr>
          <p:cNvPr id="4" name="Picture 3" descr="psd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4114800" cy="1440180"/>
          </a:xfrm>
          <a:prstGeom prst="rect">
            <a:avLst/>
          </a:prstGeom>
        </p:spPr>
      </p:pic>
      <p:pic>
        <p:nvPicPr>
          <p:cNvPr id="5" name="Picture 4" descr="state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114800"/>
            <a:ext cx="64008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000" dirty="0"/>
          </a:p>
          <a:p>
            <a:pPr>
              <a:defRPr b="1"/>
            </a:pPr>
            <a:r>
              <a:rPr sz="2000" dirty="0"/>
              <a:t>Step 1: Frequency Filtering</a:t>
            </a:r>
          </a:p>
          <a:p>
            <a:pPr lvl="1"/>
            <a:r>
              <a:rPr sz="1800" dirty="0"/>
              <a:t>Applied a band-pass filter (1Hz to 50Hz) to isolate neurological data, and a 60Hz Notch filter to remove power line hum.</a:t>
            </a:r>
          </a:p>
          <a:p>
            <a:pPr>
              <a:defRPr b="1"/>
            </a:pPr>
            <a:r>
              <a:rPr sz="2000" dirty="0"/>
              <a:t>Step 2: Artefact Rejection</a:t>
            </a:r>
          </a:p>
          <a:p>
            <a:pPr lvl="1"/>
            <a:r>
              <a:rPr sz="1800" dirty="0"/>
              <a:t>Identified massive spikes from blinking/movement using Independent Component Analysis (ICA) and voltage thresholding.</a:t>
            </a:r>
          </a:p>
          <a:p>
            <a:pPr>
              <a:defRPr b="1"/>
            </a:pPr>
            <a:r>
              <a:rPr sz="2000" dirty="0"/>
              <a:t>Step 3: </a:t>
            </a:r>
            <a:r>
              <a:rPr sz="2000" dirty="0" err="1"/>
              <a:t>Epoching</a:t>
            </a:r>
            <a:endParaRPr sz="2000" dirty="0"/>
          </a:p>
          <a:p>
            <a:pPr lvl="1"/>
            <a:r>
              <a:rPr sz="1800" dirty="0"/>
              <a:t>Sliced continuous recordings into smaller, chronological 'epochs' (e.g., 2-second windows) for manageable algorithmic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and Next Steps</a:t>
            </a:r>
          </a:p>
        </p:txBody>
      </p:sp>
      <p:pic>
        <p:nvPicPr>
          <p:cNvPr id="3" name="Picture 2" descr="clean_filtered_e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5575" y="4747736"/>
            <a:ext cx="65033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sz="1000" dirty="0"/>
          </a:p>
          <a:p>
            <a:pPr marL="342900" indent="-342900" algn="just">
              <a:buFont typeface="Arial" panose="020B0604020202020204" pitchFamily="34" charset="0"/>
              <a:buChar char="•"/>
              <a:defRPr sz="2000" b="1"/>
            </a:pPr>
            <a:r>
              <a:rPr dirty="0"/>
              <a:t>The data is now mathematically </a:t>
            </a:r>
            <a:r>
              <a:rPr dirty="0" err="1"/>
              <a:t>normalised</a:t>
            </a:r>
            <a:r>
              <a:rPr dirty="0"/>
              <a:t> and separated.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The 'Three P's'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 b="1"/>
            </a:pPr>
            <a:r>
              <a:rPr dirty="0"/>
              <a:t>Progress:</a:t>
            </a:r>
          </a:p>
          <a:p>
            <a:pPr lvl="1">
              <a:defRPr sz="2000"/>
            </a:pPr>
            <a:r>
              <a:rPr dirty="0"/>
              <a:t>Downloaded dataset ds003029, successfully loaded the BIDS formatting into Python (using the MNE library), and completed initial Exploratory Data Analysis (EDA) and preprocessing pipelines.</a:t>
            </a:r>
          </a:p>
          <a:p>
            <a:pPr>
              <a:defRPr sz="2400" b="1"/>
            </a:pPr>
            <a:r>
              <a:rPr dirty="0"/>
              <a:t>Plan:</a:t>
            </a:r>
          </a:p>
          <a:p>
            <a:pPr lvl="1">
              <a:defRPr sz="2000"/>
            </a:pPr>
            <a:r>
              <a:rPr dirty="0" err="1"/>
              <a:t>Finalise</a:t>
            </a:r>
            <a:r>
              <a:rPr dirty="0"/>
              <a:t> the cleaned, </a:t>
            </a:r>
            <a:r>
              <a:rPr dirty="0" err="1"/>
              <a:t>epoched</a:t>
            </a:r>
            <a:r>
              <a:rPr dirty="0"/>
              <a:t> baseline data to begin building the ARIMA univariate models next week.</a:t>
            </a:r>
          </a:p>
          <a:p>
            <a:pPr>
              <a:defRPr sz="2400" b="1"/>
            </a:pPr>
            <a:r>
              <a:rPr dirty="0"/>
              <a:t>Problem:</a:t>
            </a:r>
          </a:p>
          <a:p>
            <a:pPr lvl="1">
              <a:defRPr sz="2000"/>
            </a:pPr>
            <a:r>
              <a:rPr lang="en-US" dirty="0"/>
              <a:t>Working with cloud data was not going smooth. Apart from this no</a:t>
            </a:r>
            <a:r>
              <a:rPr dirty="0"/>
              <a:t> major technical snags. Filtering and PSD generation executed successfully.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841</Words>
  <Application>Microsoft Office PowerPoint</Application>
  <PresentationFormat>On-screen Show (4:3)</PresentationFormat>
  <Paragraphs>55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Dataset Eligibility (ds003029)</vt:lpstr>
      <vt:lpstr>Dataset Eligibility (ds003029)</vt:lpstr>
      <vt:lpstr>Exploratory Data Analysis (EDA) &amp; Visualisations</vt:lpstr>
      <vt:lpstr>The Preprocessing Pipeline</vt:lpstr>
      <vt:lpstr>Output and Next Steps</vt:lpstr>
      <vt:lpstr>Executive Summary: The 'Three P's'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Mehrab Jamil Shawon</cp:lastModifiedBy>
  <cp:revision>3</cp:revision>
  <dcterms:created xsi:type="dcterms:W3CDTF">2013-01-27T09:14:16Z</dcterms:created>
  <dcterms:modified xsi:type="dcterms:W3CDTF">2026-05-06T00:56:48Z</dcterms:modified>
  <cp:category/>
</cp:coreProperties>
</file>